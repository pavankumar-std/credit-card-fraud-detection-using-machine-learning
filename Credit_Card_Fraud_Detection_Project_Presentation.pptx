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4470"/>
                </a:solidFill>
              </a:defRPr>
            </a:pPr>
            <a:r>
              <a:t>CREDIT CARD FRAUD</a:t>
            </a:r>
            <a:br/>
            <a: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B6EA8"/>
                </a:solidFill>
              </a:defRPr>
            </a:pPr>
            <a:r>
              <a:t>Using Machine Learning and SMOTE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303A"/>
                </a:solidFill>
              </a:defRPr>
            </a:pPr>
            <a:r>
              <a:t>Project Presentation</a:t>
            </a:r>
            <a:br/>
            <a:r>
              <a:t>Submitted by: Pavan Kumar Katkuri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Why fraud detection needs more than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Goal: identify potentially fraudulent credit card transactions.</a:t>
            </a:r>
          </a:p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Challenge: fraud cases are rare compared with legitimate transactions.</a:t>
            </a:r>
          </a:p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Approach: explore data, address imbalance with SMOTE, train classifiers, compare metrics.</a:t>
            </a:r>
          </a:p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Models: Logistic Regression, Random Forest, and XGBoost.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Kaggle Credit Card Fraud Detection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284,807 original transactions and 31 columns.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492 fraud cases; 1,081 duplicate rows identified during data-quality checks.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Target: Class (0 = legitimate, 1 = fraud).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Features include Time, Amount, and anonymized V1–V28 variables.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Latest reported test split: 56,962 transactions, including 98 fraud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End-to-end 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1. Load and inspect the dataset.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2. Check duplicates, missing values, and class distribution.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3. Split into training and testing data.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4. Apply SMOTE to training data only.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5. Train three classification models.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6. Evaluate metrics and compare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Handling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SMOTE: Synthetic Minority Over-sampling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The dataset contains far fewer fraud cases than legitimate transactions.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SMOTE generates synthetic minority-class examples from nearby training examples.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This can help the model learn the minority fraud class.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 SMOTE must not be applied to the test set because that would cause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Models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Three supervised classification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Logistic Regression — baseline linear classifier.</a:t>
            </a:r>
          </a:p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Random Forest — combines predictions from multiple decision trees.</a:t>
            </a:r>
          </a:p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XGBoost — gradient-boosted decision trees.</a:t>
            </a:r>
          </a:p>
          <a:p>
            <a:pPr>
              <a:spcAft>
                <a:spcPts val="1300"/>
              </a:spcAft>
              <a:defRPr sz="2100">
                <a:solidFill>
                  <a:srgbClr val="28303A"/>
                </a:solidFill>
              </a:defRPr>
            </a:pPr>
            <a:r>
              <a:t>•  Metrics: precision, recall, F1-score, ROC-AUC, and PR-AUC.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Latest recorded experimental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1732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371600"/>
                <a:gridCol w="1371600"/>
                <a:gridCol w="1371600"/>
                <a:gridCol w="137160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03A"/>
                          </a:solidFill>
                        </a:defRPr>
                      </a:pPr>
                      <a:r>
                        <a:t>Logistic Regression + SMOTE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0.5181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0.8776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0.6515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0.9740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0.7183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03A"/>
                          </a:solidFill>
                        </a:defRPr>
                      </a:pPr>
                      <a:r>
                        <a:t>Random Forest + SMOTE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0.8586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0.8673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0.8629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0.9643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0.8656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03A"/>
                          </a:solidFill>
                        </a:defRPr>
                      </a:pPr>
                      <a:r>
                        <a:t>XGBoost + SMOTE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0.7265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0.8673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0.7907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0.9785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8303A"/>
                          </a:solidFill>
                        </a:defRPr>
                      </a:pPr>
                      <a:r>
                        <a:t>0.8731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977639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</a:defRPr>
            </a:pPr>
            <a:r>
              <a:t>•  Random Forest + SMOTE: highest F1-score (0.8629) and precision (0.8586).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</a:defRPr>
            </a:pPr>
            <a:r>
              <a:t>•  XGBoost: highest ROC-AUC (0.9785) and PR-AUC (0.8731).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Random Forest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Test set: 56,962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1463040"/>
          <a:ext cx="9235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480"/>
                <a:gridCol w="3078480"/>
                <a:gridCol w="307848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44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Predicted Legitimate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Predicted Fraud</a:t>
                      </a:r>
                    </a:p>
                  </a:txBody>
                  <a:tcPr>
                    <a:solidFill>
                      <a:srgbClr val="1A447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303A"/>
                          </a:solidFill>
                        </a:defRPr>
                      </a:pPr>
                      <a:r>
                        <a:t>Actual Legitimate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303A"/>
                          </a:solidFill>
                        </a:defRPr>
                      </a:pPr>
                      <a:r>
                        <a:t>56,850 (TN)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303A"/>
                          </a:solidFill>
                        </a:defRPr>
                      </a:pPr>
                      <a:r>
                        <a:t>14 (FP)</a:t>
                      </a:r>
                    </a:p>
                  </a:txBody>
                  <a:tcPr>
                    <a:solidFill>
                      <a:srgbClr val="F0F6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303A"/>
                          </a:solidFill>
                        </a:defRPr>
                      </a:pPr>
                      <a:r>
                        <a:t>Actual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303A"/>
                          </a:solidFill>
                        </a:defRPr>
                      </a:pPr>
                      <a:r>
                        <a:t>13 (FN)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303A"/>
                          </a:solidFill>
                        </a:defRPr>
                      </a:pPr>
                      <a:r>
                        <a:t>85 (TP)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977639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85 fraud cases correctly detected; 13 fraud cases missed.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14 legitimate transactions incorrectly flagged as fraud.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B6EA8"/>
                </a:solidFill>
              </a:defRPr>
            </a:pPr>
            <a:r>
              <a:t>How to interpret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</a:defRPr>
            </a:pPr>
            <a:r>
              <a:t>•  Precision: among transactions flagged as fraud, how many were actually fraud.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</a:defRPr>
            </a:pPr>
            <a:r>
              <a:t>•  Recall: among all fraud cases, how many were detected.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</a:defRPr>
            </a:pPr>
            <a:r>
              <a:t>•  F1-score: balances precision and recall.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</a:defRPr>
            </a:pPr>
            <a:r>
              <a:t>•  ROC-AUC: ranking performance across thresholds.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</a:defRPr>
            </a:pPr>
            <a:r>
              <a:t>•  PR-AUC: focuses on precision-recall performance for rare positive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Random Forest + SMOTE led on F1-score and precision in the recorded results.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XGBoost led on ROC-AUC and PR-AUC; model choice depends on the trade-off.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Future work: tune thresholds, assess business costs, monitor model drift, retrain with newer data.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Verify all metrics against the final notebook before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470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</a:defRPr>
            </a:pPr>
            <a:r>
              <a:t>Pavan Kumar Katkuri  •  Credit Card Fraud Detection  •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Kaggle dataset: kaggle.com/datasets/mlg-ulb/creditcardfraud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Chawla et al. (2002), SMOTE: Synthetic Minority Over-sampling Technique.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scikit-learn documentation: scikit-learn.org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XGBoost documentation: xgboost.readthedocs.io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</a:defRPr>
            </a:pPr>
            <a:r>
              <a:t>• 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